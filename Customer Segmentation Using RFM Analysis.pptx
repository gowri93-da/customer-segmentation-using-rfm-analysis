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7E50-6E81-0B0E-7A9E-4EC3A94694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Segmentation Using RFM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E4278-154D-06EA-69F3-3B58D97E6A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Turning transaction data into business decisions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C7FB5A-B6B6-F56C-5DCE-7B9EDA5EBF90}"/>
              </a:ext>
            </a:extLst>
          </p:cNvPr>
          <p:cNvSpPr txBox="1"/>
          <p:nvPr/>
        </p:nvSpPr>
        <p:spPr>
          <a:xfrm>
            <a:off x="8583561" y="5899355"/>
            <a:ext cx="3392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/>
              <a:t>Gowri Abbigeri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139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658B-42D0-A100-099E-DF2D8BE37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8581"/>
            <a:ext cx="7729728" cy="559308"/>
          </a:xfrm>
        </p:spPr>
        <p:txBody>
          <a:bodyPr>
            <a:normAutofit fontScale="90000"/>
          </a:bodyPr>
          <a:lstStyle/>
          <a:p>
            <a:r>
              <a:rPr lang="en-IN" dirty="0"/>
              <a:t>Business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7FB9-0397-B461-B5E1-D8F098E07932}"/>
              </a:ext>
            </a:extLst>
          </p:cNvPr>
          <p:cNvSpPr txBox="1"/>
          <p:nvPr/>
        </p:nvSpPr>
        <p:spPr>
          <a:xfrm>
            <a:off x="1061884" y="1022555"/>
            <a:ext cx="9527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Customer Value &amp; Retention Analysis using RFM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941D1-A0AB-D33A-5993-BE142DD62D30}"/>
              </a:ext>
            </a:extLst>
          </p:cNvPr>
          <p:cNvSpPr txBox="1"/>
          <p:nvPr/>
        </p:nvSpPr>
        <p:spPr>
          <a:xfrm>
            <a:off x="1061884" y="1391887"/>
            <a:ext cx="952745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Businesses generate millions in sales </a:t>
            </a:r>
            <a:r>
              <a:rPr lang="en-US" dirty="0"/>
              <a:t>— but struggle to answer: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customers truly drive revenue?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customers are about to churn?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 is revenue actually concentrated?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we investing in the right customers?</a:t>
            </a:r>
          </a:p>
          <a:p>
            <a:br>
              <a:rPr lang="en-US" dirty="0"/>
            </a:br>
            <a:r>
              <a:rPr lang="en-US" b="1" dirty="0"/>
              <a:t>📉 The Reality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is often concentrated in a small segment of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Churn risk goes unnoticed until revenue declines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Marketing budgets are spent without segmentation</a:t>
            </a:r>
          </a:p>
          <a:p>
            <a:endParaRPr lang="en-US" dirty="0"/>
          </a:p>
          <a:p>
            <a:r>
              <a:rPr lang="en-US" b="1" dirty="0"/>
              <a:t>🎯 The Objective</a:t>
            </a:r>
          </a:p>
          <a:p>
            <a:r>
              <a:rPr lang="en-US" dirty="0"/>
              <a:t>     Use </a:t>
            </a:r>
            <a:r>
              <a:rPr lang="en-US" b="1" dirty="0"/>
              <a:t>RFM (Recency, Frequency, Monetary) segmentation</a:t>
            </a:r>
            <a:r>
              <a:rPr lang="en-US" dirty="0"/>
              <a:t>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high-value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 at-risk customers 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revenue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targeted retention strategies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802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7CF1-1CEE-2AE1-BBAD-5FA30648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4826" y="311460"/>
            <a:ext cx="7729728" cy="481781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RFM Methodology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8DF68-32D1-1600-5B5E-24EE7CC95DBB}"/>
              </a:ext>
            </a:extLst>
          </p:cNvPr>
          <p:cNvSpPr txBox="1"/>
          <p:nvPr/>
        </p:nvSpPr>
        <p:spPr>
          <a:xfrm>
            <a:off x="865239" y="1504335"/>
            <a:ext cx="107761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RFM is a </a:t>
            </a:r>
            <a:r>
              <a:rPr lang="en-IN" dirty="0" err="1"/>
              <a:t>behavioral</a:t>
            </a:r>
            <a:r>
              <a:rPr lang="en-IN" dirty="0"/>
              <a:t> segmentation technique based on:</a:t>
            </a:r>
          </a:p>
          <a:p>
            <a:endParaRPr lang="en-IN" dirty="0"/>
          </a:p>
          <a:p>
            <a:pPr lvl="0"/>
            <a:r>
              <a:rPr lang="en-IN" b="1" dirty="0"/>
              <a:t>Recency (1–5 scale) - </a:t>
            </a:r>
            <a:r>
              <a:rPr lang="en-IN" dirty="0"/>
              <a:t>Days since last purchase (Lower = better)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Frequency (1–5 scale) - </a:t>
            </a:r>
            <a:r>
              <a:rPr lang="en-IN" dirty="0"/>
              <a:t>Number of purchases (Higher = better)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Monetary (1–5 scale) - </a:t>
            </a:r>
            <a:r>
              <a:rPr lang="en-IN" dirty="0"/>
              <a:t>Total spend (Higher = better)</a:t>
            </a:r>
          </a:p>
          <a:p>
            <a:pPr lvl="0"/>
            <a:endParaRPr lang="en-IN" dirty="0"/>
          </a:p>
          <a:p>
            <a:r>
              <a:rPr lang="en-IN" dirty="0"/>
              <a:t>Customers are scored and grouped into segments:</a:t>
            </a:r>
          </a:p>
          <a:p>
            <a:endParaRPr lang="en-IN" dirty="0"/>
          </a:p>
          <a:p>
            <a:pPr lvl="0"/>
            <a:r>
              <a:rPr lang="en-IN" dirty="0"/>
              <a:t>Champions</a:t>
            </a:r>
          </a:p>
          <a:p>
            <a:pPr lvl="0"/>
            <a:r>
              <a:rPr lang="en-IN" dirty="0"/>
              <a:t>Big Spenders</a:t>
            </a:r>
          </a:p>
          <a:p>
            <a:pPr lvl="0"/>
            <a:r>
              <a:rPr lang="en-IN" dirty="0"/>
              <a:t>Loyal Customers</a:t>
            </a:r>
          </a:p>
          <a:p>
            <a:pPr lvl="0"/>
            <a:r>
              <a:rPr lang="en-IN" dirty="0"/>
              <a:t>At Risk</a:t>
            </a:r>
          </a:p>
          <a:p>
            <a:pPr lvl="0"/>
            <a:r>
              <a:rPr lang="en-IN" dirty="0"/>
              <a:t>Lost</a:t>
            </a:r>
          </a:p>
          <a:p>
            <a:pPr lvl="0"/>
            <a:r>
              <a:rPr lang="en-IN" dirty="0"/>
              <a:t>Others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14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CEB4-6037-FB96-E2E5-7AB1AE66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9285"/>
            <a:ext cx="7729728" cy="510147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Customer Segmentation Overview</a:t>
            </a:r>
            <a:br>
              <a:rPr lang="en-IN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3A1428-D001-0E59-8F1A-DE5306907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688258"/>
            <a:ext cx="11916698" cy="606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11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C027-6582-6297-7A80-651092CF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787" y="137652"/>
            <a:ext cx="8014077" cy="580103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Revenue Contribution &amp; Retention Risk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48EA5-01A8-0053-D72D-2A89C8170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692043"/>
            <a:ext cx="11798710" cy="605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0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993B-F382-987B-812A-99BC36B9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478" y="255638"/>
            <a:ext cx="7729728" cy="501445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Strategic Recommendations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58209-9632-6401-0E3B-A3E968783382}"/>
              </a:ext>
            </a:extLst>
          </p:cNvPr>
          <p:cNvSpPr txBox="1"/>
          <p:nvPr/>
        </p:nvSpPr>
        <p:spPr>
          <a:xfrm>
            <a:off x="1229032" y="889843"/>
            <a:ext cx="89670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Champions</a:t>
            </a:r>
            <a:endParaRPr lang="en-IN" dirty="0"/>
          </a:p>
          <a:p>
            <a:pPr lvl="0"/>
            <a:r>
              <a:rPr lang="en-IN" dirty="0"/>
              <a:t>Loyalty rewards Strategic Recommendations</a:t>
            </a:r>
          </a:p>
          <a:p>
            <a:pPr lvl="0"/>
            <a:r>
              <a:rPr lang="en-IN" dirty="0"/>
              <a:t>Early access offers</a:t>
            </a:r>
          </a:p>
          <a:p>
            <a:pPr lvl="0"/>
            <a:r>
              <a:rPr lang="en-IN" dirty="0"/>
              <a:t>Premium membership programs</a:t>
            </a:r>
          </a:p>
          <a:p>
            <a:pPr lvl="0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Big Spenders</a:t>
            </a:r>
            <a:endParaRPr lang="en-IN" dirty="0"/>
          </a:p>
          <a:p>
            <a:pPr lvl="0"/>
            <a:r>
              <a:rPr lang="en-IN" dirty="0"/>
              <a:t>Bundled offers</a:t>
            </a:r>
          </a:p>
          <a:p>
            <a:pPr lvl="0"/>
            <a:r>
              <a:rPr lang="en-IN" dirty="0"/>
              <a:t>Cross-selling</a:t>
            </a:r>
          </a:p>
          <a:p>
            <a:pPr lvl="0"/>
            <a:r>
              <a:rPr lang="en-IN" dirty="0"/>
              <a:t>Increase purchase frequency</a:t>
            </a:r>
          </a:p>
          <a:p>
            <a:pPr lvl="0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At Risk</a:t>
            </a:r>
            <a:endParaRPr lang="en-IN" dirty="0"/>
          </a:p>
          <a:p>
            <a:pPr lvl="0"/>
            <a:r>
              <a:rPr lang="en-IN" dirty="0"/>
              <a:t>Re-engagement campaigns</a:t>
            </a:r>
          </a:p>
          <a:p>
            <a:pPr lvl="0"/>
            <a:r>
              <a:rPr lang="en-IN" dirty="0"/>
              <a:t>Personalized discount coupons</a:t>
            </a:r>
          </a:p>
          <a:p>
            <a:pPr lvl="0"/>
            <a:r>
              <a:rPr lang="en-IN" dirty="0"/>
              <a:t>Email reminders</a:t>
            </a:r>
          </a:p>
          <a:p>
            <a:pPr lvl="0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Others</a:t>
            </a:r>
            <a:endParaRPr lang="en-IN" dirty="0"/>
          </a:p>
          <a:p>
            <a:pPr lvl="0"/>
            <a:r>
              <a:rPr lang="en-IN" dirty="0"/>
              <a:t>Upselling strategy</a:t>
            </a:r>
          </a:p>
          <a:p>
            <a:pPr lvl="0"/>
            <a:r>
              <a:rPr lang="en-IN" dirty="0"/>
              <a:t>Targeted promotions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94615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{55F407BD-D0A2-4BD8-B368-20388CACBF55}TFfb9a325e-b4a8-473d-b025-df086f5ae4937a5f077a-90802770140c</Template>
  <TotalTime>1790</TotalTime>
  <Words>241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Parcel</vt:lpstr>
      <vt:lpstr>Customer Segmentation Using RFM Analysis</vt:lpstr>
      <vt:lpstr>Business Problem</vt:lpstr>
      <vt:lpstr> RFM Methodology </vt:lpstr>
      <vt:lpstr> Customer Segmentation Overview </vt:lpstr>
      <vt:lpstr> Revenue Contribution &amp; Retention Risk </vt:lpstr>
      <vt:lpstr> Strategic 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Gowri Abbigeri</dc:creator>
  <cp:lastModifiedBy>Gowri Abbigeri</cp:lastModifiedBy>
  <cp:revision>6</cp:revision>
  <dcterms:created xsi:type="dcterms:W3CDTF">2026-02-13T11:29:21Z</dcterms:created>
  <dcterms:modified xsi:type="dcterms:W3CDTF">2026-02-16T10:47:48Z</dcterms:modified>
</cp:coreProperties>
</file>